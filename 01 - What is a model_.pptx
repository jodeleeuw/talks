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Roboto"/>
      <p:regular r:id="rId32"/>
      <p:bold r:id="rId33"/>
      <p:italic r:id="rId34"/>
      <p:boldItalic r:id="rId35"/>
    </p:embeddedFont>
    <p:embeddedFont>
      <p:font typeface="Roboto Condensed"/>
      <p:regular r:id="rId36"/>
      <p:bold r:id="rId37"/>
      <p:italic r:id="rId38"/>
      <p:boldItalic r:id="rId39"/>
    </p:embeddedFont>
    <p:embeddedFont>
      <p:font typeface="EB Garamond"/>
      <p:regular r:id="rId40"/>
      <p:bold r:id="rId41"/>
      <p:italic r:id="rId42"/>
      <p:boldItalic r:id="rId43"/>
    </p:embeddedFont>
    <p:embeddedFont>
      <p:font typeface="Roboto Mono"/>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EBGaramond-regular.fntdata"/><Relationship Id="rId20" Type="http://schemas.openxmlformats.org/officeDocument/2006/relationships/slide" Target="slides/slide15.xml"/><Relationship Id="rId42" Type="http://schemas.openxmlformats.org/officeDocument/2006/relationships/font" Target="fonts/EBGaramond-italic.fntdata"/><Relationship Id="rId41" Type="http://schemas.openxmlformats.org/officeDocument/2006/relationships/font" Target="fonts/EBGaramond-bold.fntdata"/><Relationship Id="rId22" Type="http://schemas.openxmlformats.org/officeDocument/2006/relationships/slide" Target="slides/slide17.xml"/><Relationship Id="rId44" Type="http://schemas.openxmlformats.org/officeDocument/2006/relationships/font" Target="fonts/RobotoMono-regular.fntdata"/><Relationship Id="rId21" Type="http://schemas.openxmlformats.org/officeDocument/2006/relationships/slide" Target="slides/slide16.xml"/><Relationship Id="rId43" Type="http://schemas.openxmlformats.org/officeDocument/2006/relationships/font" Target="fonts/EBGaramond-boldItalic.fntdata"/><Relationship Id="rId24" Type="http://schemas.openxmlformats.org/officeDocument/2006/relationships/slide" Target="slides/slide19.xml"/><Relationship Id="rId46" Type="http://schemas.openxmlformats.org/officeDocument/2006/relationships/font" Target="fonts/RobotoMono-italic.fntdata"/><Relationship Id="rId23" Type="http://schemas.openxmlformats.org/officeDocument/2006/relationships/slide" Target="slides/slide18.xml"/><Relationship Id="rId45" Type="http://schemas.openxmlformats.org/officeDocument/2006/relationships/font" Target="fonts/RobotoMon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schemas.openxmlformats.org/officeDocument/2006/relationships/font" Target="fonts/RobotoMono-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bold.fntdata"/><Relationship Id="rId10" Type="http://schemas.openxmlformats.org/officeDocument/2006/relationships/slide" Target="slides/slide5.xml"/><Relationship Id="rId32" Type="http://schemas.openxmlformats.org/officeDocument/2006/relationships/font" Target="fonts/Roboto-regular.fntdata"/><Relationship Id="rId13" Type="http://schemas.openxmlformats.org/officeDocument/2006/relationships/slide" Target="slides/slide8.xml"/><Relationship Id="rId35" Type="http://schemas.openxmlformats.org/officeDocument/2006/relationships/font" Target="fonts/Roboto-boldItalic.fntdata"/><Relationship Id="rId12" Type="http://schemas.openxmlformats.org/officeDocument/2006/relationships/slide" Target="slides/slide7.xml"/><Relationship Id="rId34" Type="http://schemas.openxmlformats.org/officeDocument/2006/relationships/font" Target="fonts/Roboto-italic.fntdata"/><Relationship Id="rId15" Type="http://schemas.openxmlformats.org/officeDocument/2006/relationships/slide" Target="slides/slide10.xml"/><Relationship Id="rId37" Type="http://schemas.openxmlformats.org/officeDocument/2006/relationships/font" Target="fonts/RobotoCondensed-bold.fntdata"/><Relationship Id="rId14" Type="http://schemas.openxmlformats.org/officeDocument/2006/relationships/slide" Target="slides/slide9.xml"/><Relationship Id="rId36" Type="http://schemas.openxmlformats.org/officeDocument/2006/relationships/font" Target="fonts/RobotoCondensed-regular.fntdata"/><Relationship Id="rId17" Type="http://schemas.openxmlformats.org/officeDocument/2006/relationships/slide" Target="slides/slide12.xml"/><Relationship Id="rId39" Type="http://schemas.openxmlformats.org/officeDocument/2006/relationships/font" Target="fonts/RobotoCondensed-boldItalic.fntdata"/><Relationship Id="rId16" Type="http://schemas.openxmlformats.org/officeDocument/2006/relationships/slide" Target="slides/slide11.xml"/><Relationship Id="rId38" Type="http://schemas.openxmlformats.org/officeDocument/2006/relationships/font" Target="fonts/RobotoCondense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7a2f3cca8e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7a2f3cca8e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651aed185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651aed185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7a2f3cca8e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7a2f3cca8e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651aed185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651aed185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651aed185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651aed185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7a2f3cca8e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7a2f3cca8e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7a2f3cca8e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7a2f3cca8e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7a2f3cca8e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7a2f3cca8e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7a2f3cca8e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7a2f3cca8e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7a2f3cca8e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7a2f3cca8e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7a2f3cca8e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7a2f3cca8e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7a2f3cca8e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7a2f3cca8e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7a2f3cca8e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7a2f3cca8e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7a2f3cca8e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7a2f3cca8e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7a2f3cca8e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7a2f3cca8e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7a2f3cca8e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7a2f3cca8e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7a2f3cca8e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7a2f3cca8e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7a2f3cca8e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7a2f3cca8e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7a2f3cca8e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7a2f3cca8e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651aed185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651aed185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7a2f3cca8e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7a2f3cca8e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7a2f3cca8e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7a2f3cca8e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7a2f3cca8e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7a2f3cca8e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7a2f3cca8e_0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7a2f3cca8e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7a2f3cca8e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7a2f3cca8e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252725" y="1802100"/>
            <a:ext cx="40074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chemeClr val="dk1"/>
                </a:solidFill>
                <a:latin typeface="Roboto"/>
                <a:ea typeface="Roboto"/>
                <a:cs typeface="Roboto"/>
                <a:sym typeface="Roboto"/>
              </a:rPr>
              <a:t>What is a model?</a:t>
            </a:r>
            <a:endParaRPr sz="2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What purposes does a model serve? </a:t>
            </a:r>
            <a:endParaRPr>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What qualities does a model have? </a:t>
            </a:r>
            <a:endParaRPr>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What properties are desirable for models?</a:t>
            </a:r>
            <a:endParaRPr>
              <a:solidFill>
                <a:schemeClr val="dk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5"/>
          <p:cNvSpPr txBox="1"/>
          <p:nvPr/>
        </p:nvSpPr>
        <p:spPr>
          <a:xfrm>
            <a:off x="1183575" y="970400"/>
            <a:ext cx="6996000" cy="335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The essential purpose of cognitive modeling is to allow investigation of the implications of ideas, beyond the limits of human thinking. Models allow the exploration of the implications of ideas that cannot be fully explored by thought alone. </a:t>
            </a:r>
            <a:r>
              <a:rPr lang="en">
                <a:solidFill>
                  <a:srgbClr val="434343"/>
                </a:solidFill>
                <a:latin typeface="Roboto"/>
                <a:ea typeface="Roboto"/>
                <a:cs typeface="Roboto"/>
                <a:sym typeface="Roboto"/>
              </a:rPr>
              <a:t>As such, they are vehicles for scientific discovery, in much the same way as experiments on human (or other) participants. But the discoveries take a particular form: A system with a particular set of specified properties has another set of properties that arise from those in the specified set as consequences. From observations of this type, we then attempt to draw implications for the nature of human cognition. Alas, such inferences are under-constrained, and there is often room for differences of opinion concerning the meaning of the outcome of a given investigation. The implication of this is not that models are useless, but that care in interpreting their successes and failures, as well as further investigation, is usually required. This makes modeling an ongoing process, just like other aspects of science.</a:t>
            </a:r>
            <a:endParaRPr>
              <a:solidFill>
                <a:srgbClr val="434343"/>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a:p>
            <a:pPr indent="0" lvl="0" marL="0" rtl="0" algn="r">
              <a:spcBef>
                <a:spcPts val="0"/>
              </a:spcBef>
              <a:spcAft>
                <a:spcPts val="0"/>
              </a:spcAft>
              <a:buNone/>
            </a:pPr>
            <a:r>
              <a:rPr lang="en" sz="1000">
                <a:solidFill>
                  <a:schemeClr val="dk1"/>
                </a:solidFill>
                <a:latin typeface="Cambria"/>
                <a:ea typeface="Cambria"/>
                <a:cs typeface="Cambria"/>
                <a:sym typeface="Cambria"/>
              </a:rPr>
              <a:t>— </a:t>
            </a:r>
            <a:r>
              <a:rPr i="1" lang="en" sz="1000">
                <a:solidFill>
                  <a:schemeClr val="dk1"/>
                </a:solidFill>
                <a:latin typeface="Cambria"/>
                <a:ea typeface="Cambria"/>
                <a:cs typeface="Cambria"/>
                <a:sym typeface="Cambria"/>
              </a:rPr>
              <a:t>Jay McClelland</a:t>
            </a:r>
            <a:endParaRPr>
              <a:solidFill>
                <a:schemeClr val="dk1"/>
              </a:solidFill>
              <a:latin typeface="Roboto"/>
              <a:ea typeface="Roboto"/>
              <a:cs typeface="Roboto"/>
              <a:sym typeface="Roboto"/>
            </a:endParaRPr>
          </a:p>
        </p:txBody>
      </p:sp>
      <p:sp>
        <p:nvSpPr>
          <p:cNvPr id="64" name="Google Shape;64;p15"/>
          <p:cNvSpPr txBox="1"/>
          <p:nvPr/>
        </p:nvSpPr>
        <p:spPr>
          <a:xfrm>
            <a:off x="964423" y="817589"/>
            <a:ext cx="592800" cy="70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dk1"/>
                </a:solidFill>
                <a:latin typeface="EB Garamond"/>
                <a:ea typeface="EB Garamond"/>
                <a:cs typeface="EB Garamond"/>
                <a:sym typeface="EB Garamond"/>
              </a:rPr>
              <a:t>“</a:t>
            </a:r>
            <a:endParaRPr sz="3600">
              <a:solidFill>
                <a:schemeClr val="dk1"/>
              </a:solidFill>
              <a:latin typeface="EB Garamond"/>
              <a:ea typeface="EB Garamond"/>
              <a:cs typeface="EB Garamond"/>
              <a:sym typeface="EB Garamo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6"/>
          <p:cNvSpPr txBox="1"/>
          <p:nvPr/>
        </p:nvSpPr>
        <p:spPr>
          <a:xfrm>
            <a:off x="1183575" y="970400"/>
            <a:ext cx="6996000" cy="335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34343"/>
                </a:solidFill>
                <a:latin typeface="Roboto"/>
                <a:ea typeface="Roboto"/>
                <a:cs typeface="Roboto"/>
                <a:sym typeface="Roboto"/>
              </a:rPr>
              <a:t>The essential purpose of cognitive modeling is to allow investigation of the implications of ideas, beyond the limits of human thinking. Models allow the exploration of the implications of ideas that cannot be fully explored by thought alone. </a:t>
            </a:r>
            <a:r>
              <a:rPr lang="en">
                <a:solidFill>
                  <a:schemeClr val="dk1"/>
                </a:solidFill>
                <a:latin typeface="Roboto"/>
                <a:ea typeface="Roboto"/>
                <a:cs typeface="Roboto"/>
                <a:sym typeface="Roboto"/>
              </a:rPr>
              <a:t>As such, they are vehicles for scientific discovery, in much the same way as experiments on human (or other) participants. But the discoveries take a particular form: A system with a particular set of specified properties has another set of properties that arise from those in the specified set as consequences. </a:t>
            </a:r>
            <a:r>
              <a:rPr lang="en">
                <a:solidFill>
                  <a:srgbClr val="434343"/>
                </a:solidFill>
                <a:latin typeface="Roboto"/>
                <a:ea typeface="Roboto"/>
                <a:cs typeface="Roboto"/>
                <a:sym typeface="Roboto"/>
              </a:rPr>
              <a:t>From observations of this type, we then attempt to draw implications for the nature of human cognition. Alas, such inferences are under-constrained, and there is often room for differences of opinion concerning the meaning of the outcome of a given investigation. The implication of this is not that models are useless, but that care in interpreting their successes and failures, as well as further investigation, is usually required. This makes modeling an ongoing process, just like other aspects of science.</a:t>
            </a:r>
            <a:endParaRPr>
              <a:solidFill>
                <a:srgbClr val="434343"/>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a:p>
            <a:pPr indent="0" lvl="0" marL="0" rtl="0" algn="r">
              <a:spcBef>
                <a:spcPts val="0"/>
              </a:spcBef>
              <a:spcAft>
                <a:spcPts val="0"/>
              </a:spcAft>
              <a:buNone/>
            </a:pPr>
            <a:r>
              <a:rPr lang="en" sz="1000">
                <a:solidFill>
                  <a:schemeClr val="dk1"/>
                </a:solidFill>
                <a:latin typeface="Cambria"/>
                <a:ea typeface="Cambria"/>
                <a:cs typeface="Cambria"/>
                <a:sym typeface="Cambria"/>
              </a:rPr>
              <a:t>— </a:t>
            </a:r>
            <a:r>
              <a:rPr i="1" lang="en" sz="1000">
                <a:solidFill>
                  <a:schemeClr val="dk1"/>
                </a:solidFill>
                <a:latin typeface="Cambria"/>
                <a:ea typeface="Cambria"/>
                <a:cs typeface="Cambria"/>
                <a:sym typeface="Cambria"/>
              </a:rPr>
              <a:t>Jay McClelland</a:t>
            </a:r>
            <a:endParaRPr>
              <a:solidFill>
                <a:schemeClr val="dk1"/>
              </a:solidFill>
              <a:latin typeface="Roboto"/>
              <a:ea typeface="Roboto"/>
              <a:cs typeface="Roboto"/>
              <a:sym typeface="Roboto"/>
            </a:endParaRPr>
          </a:p>
        </p:txBody>
      </p:sp>
      <p:sp>
        <p:nvSpPr>
          <p:cNvPr id="70" name="Google Shape;70;p16"/>
          <p:cNvSpPr txBox="1"/>
          <p:nvPr/>
        </p:nvSpPr>
        <p:spPr>
          <a:xfrm>
            <a:off x="964423" y="817589"/>
            <a:ext cx="592800" cy="70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dk1"/>
                </a:solidFill>
                <a:latin typeface="EB Garamond"/>
                <a:ea typeface="EB Garamond"/>
                <a:cs typeface="EB Garamond"/>
                <a:sym typeface="EB Garamond"/>
              </a:rPr>
              <a:t>“</a:t>
            </a:r>
            <a:endParaRPr sz="3600">
              <a:solidFill>
                <a:schemeClr val="dk1"/>
              </a:solidFill>
              <a:latin typeface="EB Garamond"/>
              <a:ea typeface="EB Garamond"/>
              <a:cs typeface="EB Garamond"/>
              <a:sym typeface="EB Garamo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7"/>
          <p:cNvSpPr txBox="1"/>
          <p:nvPr/>
        </p:nvSpPr>
        <p:spPr>
          <a:xfrm>
            <a:off x="1183575" y="970400"/>
            <a:ext cx="6996000" cy="335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34343"/>
                </a:solidFill>
                <a:latin typeface="Roboto"/>
                <a:ea typeface="Roboto"/>
                <a:cs typeface="Roboto"/>
                <a:sym typeface="Roboto"/>
              </a:rPr>
              <a:t>The essential purpose of cognitive modeling is to allow investigation of the implications of ideas, beyond the limits of human thinking. Models allow the exploration of the implications of ideas that cannot be fully explored by thought alone. As such, they are vehicles for scientific discovery, in much the same way as experiments on human (or other) participants. But the discoveries take a particular form: A system with a particular set of specified properties has another set of properties that arise from those in the specified set as consequences. </a:t>
            </a:r>
            <a:r>
              <a:rPr lang="en">
                <a:solidFill>
                  <a:schemeClr val="dk1"/>
                </a:solidFill>
                <a:latin typeface="Roboto"/>
                <a:ea typeface="Roboto"/>
                <a:cs typeface="Roboto"/>
                <a:sym typeface="Roboto"/>
              </a:rPr>
              <a:t>From observations of this type, we then attempt to draw implications for the nature of human cognition. Alas, such inferences are under-constrained, and there is often room for differences of opinion concerning the meaning of the outcome of a given investigation. </a:t>
            </a:r>
            <a:r>
              <a:rPr lang="en">
                <a:solidFill>
                  <a:srgbClr val="434343"/>
                </a:solidFill>
                <a:latin typeface="Roboto"/>
                <a:ea typeface="Roboto"/>
                <a:cs typeface="Roboto"/>
                <a:sym typeface="Roboto"/>
              </a:rPr>
              <a:t>The implication of this is not that models are useless, but that care in interpreting their successes and failures, as well as further investigation, is usually required. This makes modeling an ongoing process, just like other aspects of science.</a:t>
            </a:r>
            <a:endParaRPr>
              <a:solidFill>
                <a:srgbClr val="434343"/>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a:p>
            <a:pPr indent="0" lvl="0" marL="0" rtl="0" algn="r">
              <a:spcBef>
                <a:spcPts val="0"/>
              </a:spcBef>
              <a:spcAft>
                <a:spcPts val="0"/>
              </a:spcAft>
              <a:buNone/>
            </a:pPr>
            <a:r>
              <a:rPr lang="en" sz="1000">
                <a:solidFill>
                  <a:schemeClr val="dk1"/>
                </a:solidFill>
                <a:latin typeface="Cambria"/>
                <a:ea typeface="Cambria"/>
                <a:cs typeface="Cambria"/>
                <a:sym typeface="Cambria"/>
              </a:rPr>
              <a:t>— </a:t>
            </a:r>
            <a:r>
              <a:rPr i="1" lang="en" sz="1000">
                <a:solidFill>
                  <a:schemeClr val="dk1"/>
                </a:solidFill>
                <a:latin typeface="Cambria"/>
                <a:ea typeface="Cambria"/>
                <a:cs typeface="Cambria"/>
                <a:sym typeface="Cambria"/>
              </a:rPr>
              <a:t>Jay McClelland</a:t>
            </a:r>
            <a:endParaRPr>
              <a:solidFill>
                <a:schemeClr val="dk1"/>
              </a:solidFill>
              <a:latin typeface="Roboto"/>
              <a:ea typeface="Roboto"/>
              <a:cs typeface="Roboto"/>
              <a:sym typeface="Roboto"/>
            </a:endParaRPr>
          </a:p>
        </p:txBody>
      </p:sp>
      <p:sp>
        <p:nvSpPr>
          <p:cNvPr id="76" name="Google Shape;76;p17"/>
          <p:cNvSpPr txBox="1"/>
          <p:nvPr/>
        </p:nvSpPr>
        <p:spPr>
          <a:xfrm>
            <a:off x="964423" y="817589"/>
            <a:ext cx="592800" cy="70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dk1"/>
                </a:solidFill>
                <a:latin typeface="EB Garamond"/>
                <a:ea typeface="EB Garamond"/>
                <a:cs typeface="EB Garamond"/>
                <a:sym typeface="EB Garamond"/>
              </a:rPr>
              <a:t>“</a:t>
            </a:r>
            <a:endParaRPr sz="3600">
              <a:solidFill>
                <a:schemeClr val="dk1"/>
              </a:solidFill>
              <a:latin typeface="EB Garamond"/>
              <a:ea typeface="EB Garamond"/>
              <a:cs typeface="EB Garamond"/>
              <a:sym typeface="EB Garamo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8"/>
          <p:cNvSpPr txBox="1"/>
          <p:nvPr/>
        </p:nvSpPr>
        <p:spPr>
          <a:xfrm>
            <a:off x="1183575" y="970400"/>
            <a:ext cx="6996000" cy="335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34343"/>
                </a:solidFill>
                <a:latin typeface="Roboto"/>
                <a:ea typeface="Roboto"/>
                <a:cs typeface="Roboto"/>
                <a:sym typeface="Roboto"/>
              </a:rPr>
              <a:t>The essential purpose of cognitive modeling is to allow investigation of the implications of ideas, beyond the limits of human thinking. Models allow the exploration of the implications of ideas that cannot be fully explored by thought alone. As such, they are vehicles for scientific discovery, in much the same way as experiments on human (or other) participants. But the discoveries take a particular form: A system with a particular set of specified properties has another set of properties that arise from those in the specified set as consequences. From observations of this type, we then attempt to draw implications for the nature of human cognition. Alas, such inferences are under-constrained, and there is often room for differences of opinion concerning the meaning of the outcome of a given investigation. </a:t>
            </a:r>
            <a:r>
              <a:rPr lang="en">
                <a:solidFill>
                  <a:schemeClr val="dk1"/>
                </a:solidFill>
                <a:latin typeface="Roboto"/>
                <a:ea typeface="Roboto"/>
                <a:cs typeface="Roboto"/>
                <a:sym typeface="Roboto"/>
              </a:rPr>
              <a:t>The implication of this is not that models are useless, but that care in interpreting their successes and failures, as well as further investigation, is usually required. This makes modeling an ongoing process, just like other aspects of science.</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a:p>
            <a:pPr indent="0" lvl="0" marL="0" rtl="0" algn="r">
              <a:spcBef>
                <a:spcPts val="0"/>
              </a:spcBef>
              <a:spcAft>
                <a:spcPts val="0"/>
              </a:spcAft>
              <a:buNone/>
            </a:pPr>
            <a:r>
              <a:rPr lang="en" sz="1000">
                <a:solidFill>
                  <a:schemeClr val="dk1"/>
                </a:solidFill>
                <a:latin typeface="Cambria"/>
                <a:ea typeface="Cambria"/>
                <a:cs typeface="Cambria"/>
                <a:sym typeface="Cambria"/>
              </a:rPr>
              <a:t>— </a:t>
            </a:r>
            <a:r>
              <a:rPr i="1" lang="en" sz="1000">
                <a:solidFill>
                  <a:schemeClr val="dk1"/>
                </a:solidFill>
                <a:latin typeface="Cambria"/>
                <a:ea typeface="Cambria"/>
                <a:cs typeface="Cambria"/>
                <a:sym typeface="Cambria"/>
              </a:rPr>
              <a:t>Jay McClelland</a:t>
            </a:r>
            <a:endParaRPr>
              <a:solidFill>
                <a:schemeClr val="dk1"/>
              </a:solidFill>
              <a:latin typeface="Roboto"/>
              <a:ea typeface="Roboto"/>
              <a:cs typeface="Roboto"/>
              <a:sym typeface="Roboto"/>
            </a:endParaRPr>
          </a:p>
        </p:txBody>
      </p:sp>
      <p:sp>
        <p:nvSpPr>
          <p:cNvPr id="82" name="Google Shape;82;p18"/>
          <p:cNvSpPr txBox="1"/>
          <p:nvPr/>
        </p:nvSpPr>
        <p:spPr>
          <a:xfrm>
            <a:off x="964423" y="817589"/>
            <a:ext cx="592800" cy="70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dk1"/>
                </a:solidFill>
                <a:latin typeface="EB Garamond"/>
                <a:ea typeface="EB Garamond"/>
                <a:cs typeface="EB Garamond"/>
                <a:sym typeface="EB Garamond"/>
              </a:rPr>
              <a:t>“</a:t>
            </a:r>
            <a:endParaRPr sz="3600">
              <a:solidFill>
                <a:schemeClr val="dk1"/>
              </a:solidFill>
              <a:latin typeface="EB Garamond"/>
              <a:ea typeface="EB Garamond"/>
              <a:cs typeface="EB Garamond"/>
              <a:sym typeface="EB Garamo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 name="Shape 86"/>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0"/>
          <p:cNvSpPr/>
          <p:nvPr/>
        </p:nvSpPr>
        <p:spPr>
          <a:xfrm>
            <a:off x="5909075" y="2023950"/>
            <a:ext cx="2363700" cy="10956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Mono"/>
                <a:ea typeface="Roboto Mono"/>
                <a:cs typeface="Roboto Mono"/>
                <a:sym typeface="Roboto Mono"/>
              </a:rPr>
              <a:t>theory &amp; </a:t>
            </a:r>
            <a:br>
              <a:rPr lang="en" sz="1800">
                <a:solidFill>
                  <a:schemeClr val="dk1"/>
                </a:solidFill>
                <a:latin typeface="Roboto Mono"/>
                <a:ea typeface="Roboto Mono"/>
                <a:cs typeface="Roboto Mono"/>
                <a:sym typeface="Roboto Mono"/>
              </a:rPr>
            </a:br>
            <a:r>
              <a:rPr lang="en" sz="1800">
                <a:solidFill>
                  <a:schemeClr val="dk1"/>
                </a:solidFill>
                <a:latin typeface="Roboto Mono"/>
                <a:ea typeface="Roboto Mono"/>
                <a:cs typeface="Roboto Mono"/>
                <a:sym typeface="Roboto Mono"/>
              </a:rPr>
              <a:t>models</a:t>
            </a:r>
            <a:endParaRPr sz="1800">
              <a:solidFill>
                <a:schemeClr val="dk1"/>
              </a:solidFill>
              <a:latin typeface="Roboto Mono"/>
              <a:ea typeface="Roboto Mono"/>
              <a:cs typeface="Roboto Mono"/>
              <a:sym typeface="Roboto Mono"/>
            </a:endParaRPr>
          </a:p>
        </p:txBody>
      </p:sp>
      <p:sp>
        <p:nvSpPr>
          <p:cNvPr id="92" name="Google Shape;92;p20"/>
          <p:cNvSpPr/>
          <p:nvPr/>
        </p:nvSpPr>
        <p:spPr>
          <a:xfrm>
            <a:off x="928775" y="2023950"/>
            <a:ext cx="2363700" cy="10956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Mono"/>
                <a:ea typeface="Roboto Mono"/>
                <a:cs typeface="Roboto Mono"/>
                <a:sym typeface="Roboto Mono"/>
              </a:rPr>
              <a:t>d</a:t>
            </a:r>
            <a:r>
              <a:rPr lang="en" sz="1800">
                <a:solidFill>
                  <a:schemeClr val="dk1"/>
                </a:solidFill>
                <a:latin typeface="Roboto Mono"/>
                <a:ea typeface="Roboto Mono"/>
                <a:cs typeface="Roboto Mono"/>
                <a:sym typeface="Roboto Mono"/>
              </a:rPr>
              <a:t>ata &amp; experiments</a:t>
            </a:r>
            <a:endParaRPr sz="1800">
              <a:solidFill>
                <a:schemeClr val="dk1"/>
              </a:solidFill>
              <a:latin typeface="Roboto Mono"/>
              <a:ea typeface="Roboto Mono"/>
              <a:cs typeface="Roboto Mono"/>
              <a:sym typeface="Roboto Mono"/>
            </a:endParaRPr>
          </a:p>
        </p:txBody>
      </p:sp>
      <p:cxnSp>
        <p:nvCxnSpPr>
          <p:cNvPr id="93" name="Google Shape;93;p20"/>
          <p:cNvCxnSpPr>
            <a:stCxn id="92" idx="2"/>
            <a:endCxn id="91" idx="2"/>
          </p:cNvCxnSpPr>
          <p:nvPr/>
        </p:nvCxnSpPr>
        <p:spPr>
          <a:xfrm flipH="1" rot="-5400000">
            <a:off x="4600475" y="629700"/>
            <a:ext cx="600" cy="4980300"/>
          </a:xfrm>
          <a:prstGeom prst="bentConnector3">
            <a:avLst>
              <a:gd fmla="val 122741667" name="adj1"/>
            </a:avLst>
          </a:prstGeom>
          <a:noFill/>
          <a:ln cap="flat" cmpd="sng" w="28575">
            <a:solidFill>
              <a:schemeClr val="dk1"/>
            </a:solidFill>
            <a:prstDash val="solid"/>
            <a:round/>
            <a:headEnd len="med" w="med" type="none"/>
            <a:tailEnd len="med" w="med" type="stealth"/>
          </a:ln>
        </p:spPr>
      </p:cxnSp>
      <p:cxnSp>
        <p:nvCxnSpPr>
          <p:cNvPr id="94" name="Google Shape;94;p20"/>
          <p:cNvCxnSpPr>
            <a:stCxn id="91" idx="0"/>
            <a:endCxn id="92" idx="0"/>
          </p:cNvCxnSpPr>
          <p:nvPr/>
        </p:nvCxnSpPr>
        <p:spPr>
          <a:xfrm rot="5400000">
            <a:off x="4600475" y="-465900"/>
            <a:ext cx="600" cy="4980300"/>
          </a:xfrm>
          <a:prstGeom prst="bentConnector3">
            <a:avLst>
              <a:gd fmla="val -128854167" name="adj1"/>
            </a:avLst>
          </a:prstGeom>
          <a:noFill/>
          <a:ln cap="flat" cmpd="sng" w="28575">
            <a:solidFill>
              <a:schemeClr val="dk1"/>
            </a:solidFill>
            <a:prstDash val="solid"/>
            <a:round/>
            <a:headEnd len="med" w="med" type="none"/>
            <a:tailEnd len="med" w="med" type="stealth"/>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1"/>
          <p:cNvSpPr/>
          <p:nvPr/>
        </p:nvSpPr>
        <p:spPr>
          <a:xfrm>
            <a:off x="5909075" y="2023950"/>
            <a:ext cx="2363700" cy="10956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Mono"/>
                <a:ea typeface="Roboto Mono"/>
                <a:cs typeface="Roboto Mono"/>
                <a:sym typeface="Roboto Mono"/>
              </a:rPr>
              <a:t>theory &amp; </a:t>
            </a:r>
            <a:br>
              <a:rPr lang="en" sz="1800">
                <a:solidFill>
                  <a:schemeClr val="dk1"/>
                </a:solidFill>
                <a:latin typeface="Roboto Mono"/>
                <a:ea typeface="Roboto Mono"/>
                <a:cs typeface="Roboto Mono"/>
                <a:sym typeface="Roboto Mono"/>
              </a:rPr>
            </a:br>
            <a:r>
              <a:rPr lang="en" sz="1800">
                <a:solidFill>
                  <a:schemeClr val="dk1"/>
                </a:solidFill>
                <a:latin typeface="Roboto Mono"/>
                <a:ea typeface="Roboto Mono"/>
                <a:cs typeface="Roboto Mono"/>
                <a:sym typeface="Roboto Mono"/>
              </a:rPr>
              <a:t>models</a:t>
            </a:r>
            <a:endParaRPr sz="1800">
              <a:solidFill>
                <a:schemeClr val="dk1"/>
              </a:solidFill>
              <a:latin typeface="Roboto Mono"/>
              <a:ea typeface="Roboto Mono"/>
              <a:cs typeface="Roboto Mono"/>
              <a:sym typeface="Roboto Mono"/>
            </a:endParaRPr>
          </a:p>
        </p:txBody>
      </p:sp>
      <p:sp>
        <p:nvSpPr>
          <p:cNvPr id="100" name="Google Shape;100;p21"/>
          <p:cNvSpPr/>
          <p:nvPr/>
        </p:nvSpPr>
        <p:spPr>
          <a:xfrm>
            <a:off x="928775" y="2023950"/>
            <a:ext cx="2363700" cy="10956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Mono"/>
                <a:ea typeface="Roboto Mono"/>
                <a:cs typeface="Roboto Mono"/>
                <a:sym typeface="Roboto Mono"/>
              </a:rPr>
              <a:t>data &amp; experiments</a:t>
            </a:r>
            <a:endParaRPr sz="1800">
              <a:solidFill>
                <a:schemeClr val="dk1"/>
              </a:solidFill>
              <a:latin typeface="Roboto Mono"/>
              <a:ea typeface="Roboto Mono"/>
              <a:cs typeface="Roboto Mono"/>
              <a:sym typeface="Roboto Mono"/>
            </a:endParaRPr>
          </a:p>
        </p:txBody>
      </p:sp>
      <p:sp>
        <p:nvSpPr>
          <p:cNvPr id="101" name="Google Shape;101;p21"/>
          <p:cNvSpPr/>
          <p:nvPr/>
        </p:nvSpPr>
        <p:spPr>
          <a:xfrm>
            <a:off x="3968100" y="172525"/>
            <a:ext cx="1207800" cy="3537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a</a:t>
            </a:r>
            <a:endParaRPr>
              <a:solidFill>
                <a:schemeClr val="dk1"/>
              </a:solidFill>
              <a:latin typeface="Roboto Mono"/>
              <a:ea typeface="Roboto Mono"/>
              <a:cs typeface="Roboto Mono"/>
              <a:sym typeface="Roboto Mono"/>
            </a:endParaRPr>
          </a:p>
        </p:txBody>
      </p:sp>
      <p:sp>
        <p:nvSpPr>
          <p:cNvPr id="102" name="Google Shape;102;p21"/>
          <p:cNvSpPr/>
          <p:nvPr/>
        </p:nvSpPr>
        <p:spPr>
          <a:xfrm>
            <a:off x="3968100" y="575075"/>
            <a:ext cx="1207800" cy="3537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b</a:t>
            </a:r>
            <a:endParaRPr>
              <a:solidFill>
                <a:schemeClr val="dk1"/>
              </a:solidFill>
              <a:latin typeface="Roboto Mono"/>
              <a:ea typeface="Roboto Mono"/>
              <a:cs typeface="Roboto Mono"/>
              <a:sym typeface="Roboto Mono"/>
            </a:endParaRPr>
          </a:p>
        </p:txBody>
      </p:sp>
      <p:sp>
        <p:nvSpPr>
          <p:cNvPr id="103" name="Google Shape;103;p21"/>
          <p:cNvSpPr/>
          <p:nvPr/>
        </p:nvSpPr>
        <p:spPr>
          <a:xfrm>
            <a:off x="3968100" y="977625"/>
            <a:ext cx="1207800" cy="3537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c</a:t>
            </a:r>
            <a:endParaRPr>
              <a:solidFill>
                <a:schemeClr val="dk1"/>
              </a:solidFill>
              <a:latin typeface="Roboto Mono"/>
              <a:ea typeface="Roboto Mono"/>
              <a:cs typeface="Roboto Mono"/>
              <a:sym typeface="Roboto Mono"/>
            </a:endParaRPr>
          </a:p>
        </p:txBody>
      </p:sp>
      <p:sp>
        <p:nvSpPr>
          <p:cNvPr id="104" name="Google Shape;104;p21"/>
          <p:cNvSpPr/>
          <p:nvPr/>
        </p:nvSpPr>
        <p:spPr>
          <a:xfrm>
            <a:off x="3968100" y="1380175"/>
            <a:ext cx="1207800" cy="3537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d</a:t>
            </a:r>
            <a:endParaRPr>
              <a:solidFill>
                <a:schemeClr val="dk1"/>
              </a:solidFill>
              <a:latin typeface="Roboto Mono"/>
              <a:ea typeface="Roboto Mono"/>
              <a:cs typeface="Roboto Mono"/>
              <a:sym typeface="Roboto Mono"/>
            </a:endParaRPr>
          </a:p>
        </p:txBody>
      </p:sp>
      <p:cxnSp>
        <p:nvCxnSpPr>
          <p:cNvPr id="105" name="Google Shape;105;p21"/>
          <p:cNvCxnSpPr>
            <a:stCxn id="99" idx="0"/>
            <a:endCxn id="104" idx="3"/>
          </p:cNvCxnSpPr>
          <p:nvPr/>
        </p:nvCxnSpPr>
        <p:spPr>
          <a:xfrm flipH="1" rot="5400000">
            <a:off x="5900075" y="833100"/>
            <a:ext cx="466800" cy="1914900"/>
          </a:xfrm>
          <a:prstGeom prst="bentConnector2">
            <a:avLst/>
          </a:prstGeom>
          <a:noFill/>
          <a:ln cap="flat" cmpd="sng" w="19050">
            <a:solidFill>
              <a:schemeClr val="dk1"/>
            </a:solidFill>
            <a:prstDash val="solid"/>
            <a:round/>
            <a:headEnd len="med" w="med" type="none"/>
            <a:tailEnd len="med" w="med" type="stealth"/>
          </a:ln>
        </p:spPr>
      </p:cxnSp>
      <p:cxnSp>
        <p:nvCxnSpPr>
          <p:cNvPr id="106" name="Google Shape;106;p21"/>
          <p:cNvCxnSpPr>
            <a:endCxn id="103" idx="3"/>
          </p:cNvCxnSpPr>
          <p:nvPr/>
        </p:nvCxnSpPr>
        <p:spPr>
          <a:xfrm rot="10800000">
            <a:off x="5175900" y="1154475"/>
            <a:ext cx="1914900" cy="869400"/>
          </a:xfrm>
          <a:prstGeom prst="bentConnector3">
            <a:avLst>
              <a:gd fmla="val -7" name="adj1"/>
            </a:avLst>
          </a:prstGeom>
          <a:noFill/>
          <a:ln cap="flat" cmpd="sng" w="19050">
            <a:solidFill>
              <a:schemeClr val="dk1"/>
            </a:solidFill>
            <a:prstDash val="solid"/>
            <a:round/>
            <a:headEnd len="med" w="med" type="none"/>
            <a:tailEnd len="med" w="med" type="stealth"/>
          </a:ln>
        </p:spPr>
      </p:cxnSp>
      <p:cxnSp>
        <p:nvCxnSpPr>
          <p:cNvPr id="107" name="Google Shape;107;p21"/>
          <p:cNvCxnSpPr>
            <a:stCxn id="99" idx="0"/>
            <a:endCxn id="102" idx="3"/>
          </p:cNvCxnSpPr>
          <p:nvPr/>
        </p:nvCxnSpPr>
        <p:spPr>
          <a:xfrm flipH="1" rot="5400000">
            <a:off x="5497475" y="430500"/>
            <a:ext cx="1272000" cy="1914900"/>
          </a:xfrm>
          <a:prstGeom prst="bentConnector2">
            <a:avLst/>
          </a:prstGeom>
          <a:noFill/>
          <a:ln cap="flat" cmpd="sng" w="19050">
            <a:solidFill>
              <a:schemeClr val="dk1"/>
            </a:solidFill>
            <a:prstDash val="solid"/>
            <a:round/>
            <a:headEnd len="med" w="med" type="none"/>
            <a:tailEnd len="med" w="med" type="stealth"/>
          </a:ln>
        </p:spPr>
      </p:cxnSp>
      <p:cxnSp>
        <p:nvCxnSpPr>
          <p:cNvPr id="108" name="Google Shape;108;p21"/>
          <p:cNvCxnSpPr>
            <a:stCxn id="99" idx="0"/>
            <a:endCxn id="101" idx="3"/>
          </p:cNvCxnSpPr>
          <p:nvPr/>
        </p:nvCxnSpPr>
        <p:spPr>
          <a:xfrm flipH="1" rot="5400000">
            <a:off x="5296175" y="229200"/>
            <a:ext cx="1674600" cy="1914900"/>
          </a:xfrm>
          <a:prstGeom prst="bentConnector2">
            <a:avLst/>
          </a:prstGeom>
          <a:noFill/>
          <a:ln cap="flat" cmpd="sng" w="19050">
            <a:solidFill>
              <a:schemeClr val="dk1"/>
            </a:solidFill>
            <a:prstDash val="solid"/>
            <a:round/>
            <a:headEnd len="med" w="med" type="none"/>
            <a:tailEnd len="med" w="med" type="stealth"/>
          </a:ln>
        </p:spPr>
      </p:cxnSp>
      <p:sp>
        <p:nvSpPr>
          <p:cNvPr id="109" name="Google Shape;109;p21"/>
          <p:cNvSpPr txBox="1"/>
          <p:nvPr/>
        </p:nvSpPr>
        <p:spPr>
          <a:xfrm>
            <a:off x="7254825" y="707375"/>
            <a:ext cx="1552800" cy="52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What would happen if…?</a:t>
            </a:r>
            <a:endParaRPr>
              <a:solidFill>
                <a:schemeClr val="dk1"/>
              </a:solidFill>
              <a:latin typeface="Roboto"/>
              <a:ea typeface="Roboto"/>
              <a:cs typeface="Roboto"/>
              <a:sym typeface="Roboto"/>
            </a:endParaRPr>
          </a:p>
        </p:txBody>
      </p:sp>
      <p:cxnSp>
        <p:nvCxnSpPr>
          <p:cNvPr id="110" name="Google Shape;110;p21"/>
          <p:cNvCxnSpPr>
            <a:stCxn id="102" idx="1"/>
            <a:endCxn id="100" idx="0"/>
          </p:cNvCxnSpPr>
          <p:nvPr/>
        </p:nvCxnSpPr>
        <p:spPr>
          <a:xfrm flipH="1">
            <a:off x="2110500" y="751925"/>
            <a:ext cx="1857600" cy="1272000"/>
          </a:xfrm>
          <a:prstGeom prst="bentConnector2">
            <a:avLst/>
          </a:prstGeom>
          <a:noFill/>
          <a:ln cap="flat" cmpd="sng" w="38100">
            <a:solidFill>
              <a:schemeClr val="dk1"/>
            </a:solidFill>
            <a:prstDash val="solid"/>
            <a:round/>
            <a:headEnd len="med" w="med" type="none"/>
            <a:tailEnd len="med" w="med" type="stealth"/>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p:nvPr/>
        </p:nvSpPr>
        <p:spPr>
          <a:xfrm>
            <a:off x="5909075" y="2023950"/>
            <a:ext cx="2363700" cy="10956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Mono"/>
                <a:ea typeface="Roboto Mono"/>
                <a:cs typeface="Roboto Mono"/>
                <a:sym typeface="Roboto Mono"/>
              </a:rPr>
              <a:t>theory &amp; </a:t>
            </a:r>
            <a:br>
              <a:rPr lang="en" sz="1800">
                <a:solidFill>
                  <a:schemeClr val="dk1"/>
                </a:solidFill>
                <a:latin typeface="Roboto Mono"/>
                <a:ea typeface="Roboto Mono"/>
                <a:cs typeface="Roboto Mono"/>
                <a:sym typeface="Roboto Mono"/>
              </a:rPr>
            </a:br>
            <a:r>
              <a:rPr lang="en" sz="1800">
                <a:solidFill>
                  <a:schemeClr val="dk1"/>
                </a:solidFill>
                <a:latin typeface="Roboto Mono"/>
                <a:ea typeface="Roboto Mono"/>
                <a:cs typeface="Roboto Mono"/>
                <a:sym typeface="Roboto Mono"/>
              </a:rPr>
              <a:t>models</a:t>
            </a:r>
            <a:endParaRPr sz="1800">
              <a:solidFill>
                <a:schemeClr val="dk1"/>
              </a:solidFill>
              <a:latin typeface="Roboto Mono"/>
              <a:ea typeface="Roboto Mono"/>
              <a:cs typeface="Roboto Mono"/>
              <a:sym typeface="Roboto Mono"/>
            </a:endParaRPr>
          </a:p>
        </p:txBody>
      </p:sp>
      <p:sp>
        <p:nvSpPr>
          <p:cNvPr id="116" name="Google Shape;116;p22"/>
          <p:cNvSpPr/>
          <p:nvPr/>
        </p:nvSpPr>
        <p:spPr>
          <a:xfrm>
            <a:off x="928775" y="2023950"/>
            <a:ext cx="2363700" cy="10956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Mono"/>
                <a:ea typeface="Roboto Mono"/>
                <a:cs typeface="Roboto Mono"/>
                <a:sym typeface="Roboto Mono"/>
              </a:rPr>
              <a:t>data &amp; experiments</a:t>
            </a:r>
            <a:endParaRPr sz="1800">
              <a:solidFill>
                <a:schemeClr val="dk1"/>
              </a:solidFill>
              <a:latin typeface="Roboto Mono"/>
              <a:ea typeface="Roboto Mono"/>
              <a:cs typeface="Roboto Mono"/>
              <a:sym typeface="Roboto Mono"/>
            </a:endParaRPr>
          </a:p>
        </p:txBody>
      </p:sp>
      <p:sp>
        <p:nvSpPr>
          <p:cNvPr id="117" name="Google Shape;117;p22"/>
          <p:cNvSpPr/>
          <p:nvPr/>
        </p:nvSpPr>
        <p:spPr>
          <a:xfrm>
            <a:off x="3968100" y="3243525"/>
            <a:ext cx="1207800" cy="3537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a</a:t>
            </a:r>
            <a:endParaRPr>
              <a:solidFill>
                <a:schemeClr val="dk1"/>
              </a:solidFill>
              <a:latin typeface="Roboto Mono"/>
              <a:ea typeface="Roboto Mono"/>
              <a:cs typeface="Roboto Mono"/>
              <a:sym typeface="Roboto Mono"/>
            </a:endParaRPr>
          </a:p>
        </p:txBody>
      </p:sp>
      <p:sp>
        <p:nvSpPr>
          <p:cNvPr id="118" name="Google Shape;118;p22"/>
          <p:cNvSpPr/>
          <p:nvPr/>
        </p:nvSpPr>
        <p:spPr>
          <a:xfrm>
            <a:off x="3968100" y="3646075"/>
            <a:ext cx="1207800" cy="3537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b</a:t>
            </a:r>
            <a:endParaRPr>
              <a:solidFill>
                <a:schemeClr val="dk1"/>
              </a:solidFill>
              <a:latin typeface="Roboto Mono"/>
              <a:ea typeface="Roboto Mono"/>
              <a:cs typeface="Roboto Mono"/>
              <a:sym typeface="Roboto Mono"/>
            </a:endParaRPr>
          </a:p>
        </p:txBody>
      </p:sp>
      <p:sp>
        <p:nvSpPr>
          <p:cNvPr id="119" name="Google Shape;119;p22"/>
          <p:cNvSpPr/>
          <p:nvPr/>
        </p:nvSpPr>
        <p:spPr>
          <a:xfrm>
            <a:off x="3968100" y="4048625"/>
            <a:ext cx="1207800" cy="3537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c</a:t>
            </a:r>
            <a:endParaRPr>
              <a:solidFill>
                <a:schemeClr val="dk1"/>
              </a:solidFill>
              <a:latin typeface="Roboto Mono"/>
              <a:ea typeface="Roboto Mono"/>
              <a:cs typeface="Roboto Mono"/>
              <a:sym typeface="Roboto Mono"/>
            </a:endParaRPr>
          </a:p>
        </p:txBody>
      </p:sp>
      <p:sp>
        <p:nvSpPr>
          <p:cNvPr id="120" name="Google Shape;120;p22"/>
          <p:cNvSpPr/>
          <p:nvPr/>
        </p:nvSpPr>
        <p:spPr>
          <a:xfrm>
            <a:off x="3968100" y="4451175"/>
            <a:ext cx="1207800" cy="3537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d</a:t>
            </a:r>
            <a:endParaRPr>
              <a:solidFill>
                <a:schemeClr val="dk1"/>
              </a:solidFill>
              <a:latin typeface="Roboto Mono"/>
              <a:ea typeface="Roboto Mono"/>
              <a:cs typeface="Roboto Mono"/>
              <a:sym typeface="Roboto Mono"/>
            </a:endParaRPr>
          </a:p>
        </p:txBody>
      </p:sp>
      <p:cxnSp>
        <p:nvCxnSpPr>
          <p:cNvPr id="121" name="Google Shape;121;p22"/>
          <p:cNvCxnSpPr>
            <a:stCxn id="116" idx="2"/>
            <a:endCxn id="117" idx="1"/>
          </p:cNvCxnSpPr>
          <p:nvPr/>
        </p:nvCxnSpPr>
        <p:spPr>
          <a:xfrm flipH="1" rot="-5400000">
            <a:off x="2888975" y="2341200"/>
            <a:ext cx="300900" cy="1857600"/>
          </a:xfrm>
          <a:prstGeom prst="bentConnector2">
            <a:avLst/>
          </a:prstGeom>
          <a:noFill/>
          <a:ln cap="flat" cmpd="sng" w="19050">
            <a:solidFill>
              <a:schemeClr val="dk1"/>
            </a:solidFill>
            <a:prstDash val="solid"/>
            <a:round/>
            <a:headEnd len="med" w="med" type="none"/>
            <a:tailEnd len="med" w="med" type="stealth"/>
          </a:ln>
        </p:spPr>
      </p:cxnSp>
      <p:cxnSp>
        <p:nvCxnSpPr>
          <p:cNvPr id="122" name="Google Shape;122;p22"/>
          <p:cNvCxnSpPr>
            <a:stCxn id="116" idx="2"/>
            <a:endCxn id="118" idx="1"/>
          </p:cNvCxnSpPr>
          <p:nvPr/>
        </p:nvCxnSpPr>
        <p:spPr>
          <a:xfrm flipH="1" rot="-5400000">
            <a:off x="2687675" y="2542500"/>
            <a:ext cx="703500" cy="1857600"/>
          </a:xfrm>
          <a:prstGeom prst="bentConnector2">
            <a:avLst/>
          </a:prstGeom>
          <a:noFill/>
          <a:ln cap="flat" cmpd="sng" w="19050">
            <a:solidFill>
              <a:schemeClr val="dk1"/>
            </a:solidFill>
            <a:prstDash val="solid"/>
            <a:round/>
            <a:headEnd len="med" w="med" type="none"/>
            <a:tailEnd len="med" w="med" type="stealth"/>
          </a:ln>
        </p:spPr>
      </p:cxnSp>
      <p:cxnSp>
        <p:nvCxnSpPr>
          <p:cNvPr id="123" name="Google Shape;123;p22"/>
          <p:cNvCxnSpPr>
            <a:stCxn id="116" idx="2"/>
            <a:endCxn id="119" idx="1"/>
          </p:cNvCxnSpPr>
          <p:nvPr/>
        </p:nvCxnSpPr>
        <p:spPr>
          <a:xfrm flipH="1" rot="-5400000">
            <a:off x="2486525" y="2743650"/>
            <a:ext cx="1105800" cy="1857600"/>
          </a:xfrm>
          <a:prstGeom prst="bentConnector2">
            <a:avLst/>
          </a:prstGeom>
          <a:noFill/>
          <a:ln cap="flat" cmpd="sng" w="19050">
            <a:solidFill>
              <a:schemeClr val="dk1"/>
            </a:solidFill>
            <a:prstDash val="solid"/>
            <a:round/>
            <a:headEnd len="med" w="med" type="none"/>
            <a:tailEnd len="med" w="med" type="stealth"/>
          </a:ln>
        </p:spPr>
      </p:cxnSp>
      <p:cxnSp>
        <p:nvCxnSpPr>
          <p:cNvPr id="124" name="Google Shape;124;p22"/>
          <p:cNvCxnSpPr>
            <a:stCxn id="116" idx="2"/>
            <a:endCxn id="120" idx="1"/>
          </p:cNvCxnSpPr>
          <p:nvPr/>
        </p:nvCxnSpPr>
        <p:spPr>
          <a:xfrm flipH="1" rot="-5400000">
            <a:off x="2285225" y="2944950"/>
            <a:ext cx="1508400" cy="1857600"/>
          </a:xfrm>
          <a:prstGeom prst="bentConnector2">
            <a:avLst/>
          </a:prstGeom>
          <a:noFill/>
          <a:ln cap="flat" cmpd="sng" w="19050">
            <a:solidFill>
              <a:schemeClr val="dk1"/>
            </a:solidFill>
            <a:prstDash val="solid"/>
            <a:round/>
            <a:headEnd len="med" w="med" type="none"/>
            <a:tailEnd len="med" w="med" type="stealth"/>
          </a:ln>
        </p:spPr>
      </p:cxnSp>
      <p:sp>
        <p:nvSpPr>
          <p:cNvPr id="125" name="Google Shape;125;p22"/>
          <p:cNvSpPr txBox="1"/>
          <p:nvPr/>
        </p:nvSpPr>
        <p:spPr>
          <a:xfrm>
            <a:off x="5495025" y="3785550"/>
            <a:ext cx="3079500" cy="43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Which model best explains…?</a:t>
            </a:r>
            <a:endParaRPr>
              <a:solidFill>
                <a:schemeClr val="dk1"/>
              </a:solidFill>
            </a:endParaRPr>
          </a:p>
        </p:txBody>
      </p:sp>
      <p:cxnSp>
        <p:nvCxnSpPr>
          <p:cNvPr id="126" name="Google Shape;126;p22"/>
          <p:cNvCxnSpPr>
            <a:endCxn id="115" idx="2"/>
          </p:cNvCxnSpPr>
          <p:nvPr/>
        </p:nvCxnSpPr>
        <p:spPr>
          <a:xfrm flipH="1" rot="10800000">
            <a:off x="5176025" y="3119550"/>
            <a:ext cx="1914900" cy="300900"/>
          </a:xfrm>
          <a:prstGeom prst="bentConnector2">
            <a:avLst/>
          </a:prstGeom>
          <a:noFill/>
          <a:ln cap="flat" cmpd="sng" w="38100">
            <a:solidFill>
              <a:schemeClr val="dk1"/>
            </a:solidFill>
            <a:prstDash val="solid"/>
            <a:round/>
            <a:headEnd len="med" w="med" type="none"/>
            <a:tailEnd len="med" w="med" type="stealth"/>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3"/>
          <p:cNvSpPr/>
          <p:nvPr/>
        </p:nvSpPr>
        <p:spPr>
          <a:xfrm>
            <a:off x="5909075" y="2023950"/>
            <a:ext cx="2363700" cy="10956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Mono"/>
                <a:ea typeface="Roboto Mono"/>
                <a:cs typeface="Roboto Mono"/>
                <a:sym typeface="Roboto Mono"/>
              </a:rPr>
              <a:t>theory &amp; </a:t>
            </a:r>
            <a:br>
              <a:rPr lang="en" sz="1800">
                <a:solidFill>
                  <a:schemeClr val="dk1"/>
                </a:solidFill>
                <a:latin typeface="Roboto Mono"/>
                <a:ea typeface="Roboto Mono"/>
                <a:cs typeface="Roboto Mono"/>
                <a:sym typeface="Roboto Mono"/>
              </a:rPr>
            </a:br>
            <a:r>
              <a:rPr lang="en" sz="1800">
                <a:solidFill>
                  <a:schemeClr val="dk1"/>
                </a:solidFill>
                <a:latin typeface="Roboto Mono"/>
                <a:ea typeface="Roboto Mono"/>
                <a:cs typeface="Roboto Mono"/>
                <a:sym typeface="Roboto Mono"/>
              </a:rPr>
              <a:t>models</a:t>
            </a:r>
            <a:endParaRPr sz="1800">
              <a:solidFill>
                <a:schemeClr val="dk1"/>
              </a:solidFill>
              <a:latin typeface="Roboto Mono"/>
              <a:ea typeface="Roboto Mono"/>
              <a:cs typeface="Roboto Mono"/>
              <a:sym typeface="Roboto Mono"/>
            </a:endParaRPr>
          </a:p>
        </p:txBody>
      </p:sp>
      <p:sp>
        <p:nvSpPr>
          <p:cNvPr id="132" name="Google Shape;132;p23"/>
          <p:cNvSpPr/>
          <p:nvPr/>
        </p:nvSpPr>
        <p:spPr>
          <a:xfrm>
            <a:off x="928775" y="2023950"/>
            <a:ext cx="2363700" cy="10956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Mono"/>
                <a:ea typeface="Roboto Mono"/>
                <a:cs typeface="Roboto Mono"/>
                <a:sym typeface="Roboto Mono"/>
              </a:rPr>
              <a:t>data &amp; experiments</a:t>
            </a:r>
            <a:endParaRPr sz="1800">
              <a:solidFill>
                <a:schemeClr val="dk1"/>
              </a:solidFill>
              <a:latin typeface="Roboto Mono"/>
              <a:ea typeface="Roboto Mono"/>
              <a:cs typeface="Roboto Mono"/>
              <a:sym typeface="Roboto Mono"/>
            </a:endParaRPr>
          </a:p>
        </p:txBody>
      </p:sp>
      <p:cxnSp>
        <p:nvCxnSpPr>
          <p:cNvPr id="133" name="Google Shape;133;p23"/>
          <p:cNvCxnSpPr>
            <a:stCxn id="132" idx="2"/>
            <a:endCxn id="131" idx="2"/>
          </p:cNvCxnSpPr>
          <p:nvPr/>
        </p:nvCxnSpPr>
        <p:spPr>
          <a:xfrm flipH="1" rot="-5400000">
            <a:off x="4600475" y="629700"/>
            <a:ext cx="600" cy="4980300"/>
          </a:xfrm>
          <a:prstGeom prst="bentConnector3">
            <a:avLst>
              <a:gd fmla="val 122741667" name="adj1"/>
            </a:avLst>
          </a:prstGeom>
          <a:noFill/>
          <a:ln cap="flat" cmpd="sng" w="28575">
            <a:solidFill>
              <a:schemeClr val="dk1"/>
            </a:solidFill>
            <a:prstDash val="solid"/>
            <a:round/>
            <a:headEnd len="med" w="med" type="none"/>
            <a:tailEnd len="med" w="med" type="stealth"/>
          </a:ln>
        </p:spPr>
      </p:cxnSp>
      <p:cxnSp>
        <p:nvCxnSpPr>
          <p:cNvPr id="134" name="Google Shape;134;p23"/>
          <p:cNvCxnSpPr>
            <a:stCxn id="131" idx="0"/>
            <a:endCxn id="132" idx="0"/>
          </p:cNvCxnSpPr>
          <p:nvPr/>
        </p:nvCxnSpPr>
        <p:spPr>
          <a:xfrm rot="5400000">
            <a:off x="4600475" y="-465900"/>
            <a:ext cx="600" cy="4980300"/>
          </a:xfrm>
          <a:prstGeom prst="bentConnector3">
            <a:avLst>
              <a:gd fmla="val -128854167" name="adj1"/>
            </a:avLst>
          </a:prstGeom>
          <a:noFill/>
          <a:ln cap="flat" cmpd="sng" w="28575">
            <a:solidFill>
              <a:schemeClr val="dk1"/>
            </a:solidFill>
            <a:prstDash val="solid"/>
            <a:round/>
            <a:headEnd len="med" w="med" type="none"/>
            <a:tailEnd len="med" w="med" type="stealth"/>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nvSpPr>
        <p:spPr>
          <a:xfrm>
            <a:off x="1539750" y="2239650"/>
            <a:ext cx="6064500" cy="664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a:ea typeface="Roboto"/>
                <a:cs typeface="Roboto"/>
                <a:sym typeface="Roboto"/>
              </a:rPr>
              <a:t>What are </a:t>
            </a:r>
            <a:r>
              <a:rPr i="1" lang="en" sz="1800">
                <a:solidFill>
                  <a:schemeClr val="dk1"/>
                </a:solidFill>
                <a:latin typeface="Roboto"/>
                <a:ea typeface="Roboto"/>
                <a:cs typeface="Roboto"/>
                <a:sym typeface="Roboto"/>
              </a:rPr>
              <a:t>computational cognitive </a:t>
            </a:r>
            <a:r>
              <a:rPr lang="en" sz="1800">
                <a:solidFill>
                  <a:schemeClr val="dk1"/>
                </a:solidFill>
                <a:latin typeface="Roboto"/>
                <a:ea typeface="Roboto"/>
                <a:cs typeface="Roboto"/>
                <a:sym typeface="Roboto"/>
              </a:rPr>
              <a:t>models?</a:t>
            </a:r>
            <a:endParaRPr sz="1800">
              <a:solidFill>
                <a:schemeClr val="dk1"/>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nvSpPr>
        <p:spPr>
          <a:xfrm>
            <a:off x="929813" y="2239650"/>
            <a:ext cx="4257300" cy="664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a:ea typeface="Roboto"/>
                <a:cs typeface="Roboto"/>
                <a:sym typeface="Roboto"/>
              </a:rPr>
              <a:t>What kind of thing is a mind?</a:t>
            </a:r>
            <a:endParaRPr sz="1800">
              <a:solidFill>
                <a:schemeClr val="dk1"/>
              </a:solidFill>
              <a:latin typeface="Roboto"/>
              <a:ea typeface="Roboto"/>
              <a:cs typeface="Roboto"/>
              <a:sym typeface="Roboto"/>
            </a:endParaRPr>
          </a:p>
        </p:txBody>
      </p:sp>
      <p:pic>
        <p:nvPicPr>
          <p:cNvPr id="149" name="Google Shape;149;p26"/>
          <p:cNvPicPr preferRelativeResize="0"/>
          <p:nvPr/>
        </p:nvPicPr>
        <p:blipFill>
          <a:blip r:embed="rId3">
            <a:alphaModFix/>
          </a:blip>
          <a:stretch>
            <a:fillRect/>
          </a:stretch>
        </p:blipFill>
        <p:spPr>
          <a:xfrm>
            <a:off x="5187112" y="539150"/>
            <a:ext cx="3027075" cy="406519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nvSpPr>
        <p:spPr>
          <a:xfrm>
            <a:off x="2594738" y="4413500"/>
            <a:ext cx="4257300" cy="664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Roboto Condensed"/>
                <a:ea typeface="Roboto Condensed"/>
                <a:cs typeface="Roboto Condensed"/>
                <a:sym typeface="Roboto Condensed"/>
              </a:rPr>
              <a:t>Adapted from Shimon Edelmann</a:t>
            </a:r>
            <a:endParaRPr sz="1100">
              <a:solidFill>
                <a:schemeClr val="dk1"/>
              </a:solidFill>
              <a:latin typeface="Roboto Condensed"/>
              <a:ea typeface="Roboto Condensed"/>
              <a:cs typeface="Roboto Condensed"/>
              <a:sym typeface="Roboto Condensed"/>
            </a:endParaRPr>
          </a:p>
        </p:txBody>
      </p:sp>
      <p:pic>
        <p:nvPicPr>
          <p:cNvPr id="155" name="Google Shape;155;p27"/>
          <p:cNvPicPr preferRelativeResize="0"/>
          <p:nvPr/>
        </p:nvPicPr>
        <p:blipFill>
          <a:blip r:embed="rId3">
            <a:alphaModFix/>
          </a:blip>
          <a:stretch>
            <a:fillRect/>
          </a:stretch>
        </p:blipFill>
        <p:spPr>
          <a:xfrm>
            <a:off x="1644000" y="517400"/>
            <a:ext cx="6158797" cy="4108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nvSpPr>
        <p:spPr>
          <a:xfrm>
            <a:off x="2594738" y="4413500"/>
            <a:ext cx="4257300" cy="664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Roboto Condensed"/>
                <a:ea typeface="Roboto Condensed"/>
                <a:cs typeface="Roboto Condensed"/>
                <a:sym typeface="Roboto Condensed"/>
              </a:rPr>
              <a:t>Adapted from Shimon Edelmann</a:t>
            </a:r>
            <a:endParaRPr sz="1100">
              <a:solidFill>
                <a:schemeClr val="dk1"/>
              </a:solidFill>
              <a:latin typeface="Roboto Condensed"/>
              <a:ea typeface="Roboto Condensed"/>
              <a:cs typeface="Roboto Condensed"/>
              <a:sym typeface="Roboto Condensed"/>
            </a:endParaRPr>
          </a:p>
        </p:txBody>
      </p:sp>
      <p:pic>
        <p:nvPicPr>
          <p:cNvPr id="161" name="Google Shape;161;p28"/>
          <p:cNvPicPr preferRelativeResize="0"/>
          <p:nvPr/>
        </p:nvPicPr>
        <p:blipFill>
          <a:blip r:embed="rId3">
            <a:alphaModFix/>
          </a:blip>
          <a:stretch>
            <a:fillRect/>
          </a:stretch>
        </p:blipFill>
        <p:spPr>
          <a:xfrm>
            <a:off x="1644000" y="517400"/>
            <a:ext cx="6158797" cy="4108700"/>
          </a:xfrm>
          <a:prstGeom prst="rect">
            <a:avLst/>
          </a:prstGeom>
          <a:noFill/>
          <a:ln>
            <a:noFill/>
          </a:ln>
        </p:spPr>
      </p:pic>
      <p:sp>
        <p:nvSpPr>
          <p:cNvPr id="162" name="Google Shape;162;p28"/>
          <p:cNvSpPr/>
          <p:nvPr/>
        </p:nvSpPr>
        <p:spPr>
          <a:xfrm>
            <a:off x="2674200" y="1017925"/>
            <a:ext cx="819600" cy="7935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28"/>
          <p:cNvSpPr/>
          <p:nvPr/>
        </p:nvSpPr>
        <p:spPr>
          <a:xfrm>
            <a:off x="5612925" y="2472925"/>
            <a:ext cx="1814400" cy="14781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 name="Google Shape;164;p28"/>
          <p:cNvSpPr/>
          <p:nvPr/>
        </p:nvSpPr>
        <p:spPr>
          <a:xfrm>
            <a:off x="5831450" y="1613150"/>
            <a:ext cx="923100" cy="16389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28"/>
          <p:cNvSpPr/>
          <p:nvPr/>
        </p:nvSpPr>
        <p:spPr>
          <a:xfrm>
            <a:off x="6950025" y="1613150"/>
            <a:ext cx="923100" cy="16389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28"/>
          <p:cNvSpPr/>
          <p:nvPr/>
        </p:nvSpPr>
        <p:spPr>
          <a:xfrm>
            <a:off x="2918600" y="779250"/>
            <a:ext cx="1532700" cy="31719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28"/>
          <p:cNvSpPr txBox="1"/>
          <p:nvPr/>
        </p:nvSpPr>
        <p:spPr>
          <a:xfrm>
            <a:off x="2977561" y="595350"/>
            <a:ext cx="690000" cy="18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Roboto Condensed"/>
                <a:ea typeface="Roboto Condensed"/>
                <a:cs typeface="Roboto Condensed"/>
                <a:sym typeface="Roboto Condensed"/>
              </a:rPr>
              <a:t>kid</a:t>
            </a:r>
            <a:endParaRPr sz="1200">
              <a:solidFill>
                <a:schemeClr val="dk1"/>
              </a:solidFill>
              <a:latin typeface="Roboto Condensed"/>
              <a:ea typeface="Roboto Condensed"/>
              <a:cs typeface="Roboto Condensed"/>
              <a:sym typeface="Roboto Condensed"/>
            </a:endParaRPr>
          </a:p>
        </p:txBody>
      </p:sp>
      <p:sp>
        <p:nvSpPr>
          <p:cNvPr id="168" name="Google Shape;168;p28"/>
          <p:cNvSpPr txBox="1"/>
          <p:nvPr/>
        </p:nvSpPr>
        <p:spPr>
          <a:xfrm>
            <a:off x="2520361" y="839765"/>
            <a:ext cx="690000" cy="18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Roboto Condensed"/>
                <a:ea typeface="Roboto Condensed"/>
                <a:cs typeface="Roboto Condensed"/>
                <a:sym typeface="Roboto Condensed"/>
              </a:rPr>
              <a:t>ball</a:t>
            </a:r>
            <a:endParaRPr sz="1200">
              <a:solidFill>
                <a:schemeClr val="dk1"/>
              </a:solidFill>
              <a:latin typeface="Roboto Condensed"/>
              <a:ea typeface="Roboto Condensed"/>
              <a:cs typeface="Roboto Condensed"/>
              <a:sym typeface="Roboto Condensed"/>
            </a:endParaRPr>
          </a:p>
        </p:txBody>
      </p:sp>
      <p:sp>
        <p:nvSpPr>
          <p:cNvPr id="169" name="Google Shape;169;p28"/>
          <p:cNvSpPr txBox="1"/>
          <p:nvPr/>
        </p:nvSpPr>
        <p:spPr>
          <a:xfrm>
            <a:off x="5831461" y="1429250"/>
            <a:ext cx="690000" cy="18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Roboto Condensed"/>
                <a:ea typeface="Roboto Condensed"/>
                <a:cs typeface="Roboto Condensed"/>
                <a:sym typeface="Roboto Condensed"/>
              </a:rPr>
              <a:t>adult</a:t>
            </a:r>
            <a:endParaRPr sz="1200">
              <a:solidFill>
                <a:schemeClr val="dk1"/>
              </a:solidFill>
              <a:latin typeface="Roboto Condensed"/>
              <a:ea typeface="Roboto Condensed"/>
              <a:cs typeface="Roboto Condensed"/>
              <a:sym typeface="Roboto Condensed"/>
            </a:endParaRPr>
          </a:p>
        </p:txBody>
      </p:sp>
      <p:sp>
        <p:nvSpPr>
          <p:cNvPr id="170" name="Google Shape;170;p28"/>
          <p:cNvSpPr txBox="1"/>
          <p:nvPr/>
        </p:nvSpPr>
        <p:spPr>
          <a:xfrm>
            <a:off x="6911211" y="1429250"/>
            <a:ext cx="690000" cy="18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Roboto Condensed"/>
                <a:ea typeface="Roboto Condensed"/>
                <a:cs typeface="Roboto Condensed"/>
                <a:sym typeface="Roboto Condensed"/>
              </a:rPr>
              <a:t>adult</a:t>
            </a:r>
            <a:endParaRPr sz="1200">
              <a:solidFill>
                <a:schemeClr val="dk1"/>
              </a:solidFill>
              <a:latin typeface="Roboto Condensed"/>
              <a:ea typeface="Roboto Condensed"/>
              <a:cs typeface="Roboto Condensed"/>
              <a:sym typeface="Roboto Condensed"/>
            </a:endParaRPr>
          </a:p>
        </p:txBody>
      </p:sp>
      <p:sp>
        <p:nvSpPr>
          <p:cNvPr id="171" name="Google Shape;171;p28"/>
          <p:cNvSpPr txBox="1"/>
          <p:nvPr/>
        </p:nvSpPr>
        <p:spPr>
          <a:xfrm>
            <a:off x="5657511" y="2306144"/>
            <a:ext cx="690000" cy="18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Roboto Condensed"/>
                <a:ea typeface="Roboto Condensed"/>
                <a:cs typeface="Roboto Condensed"/>
                <a:sym typeface="Roboto Condensed"/>
              </a:rPr>
              <a:t>dog</a:t>
            </a:r>
            <a:endParaRPr sz="1200">
              <a:solidFill>
                <a:schemeClr val="dk1"/>
              </a:solidFill>
              <a:latin typeface="Roboto Condensed"/>
              <a:ea typeface="Roboto Condensed"/>
              <a:cs typeface="Roboto Condensed"/>
              <a:sym typeface="Roboto Condense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nvSpPr>
        <p:spPr>
          <a:xfrm>
            <a:off x="929813" y="2239650"/>
            <a:ext cx="4257300" cy="664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a:ea typeface="Roboto"/>
                <a:cs typeface="Roboto"/>
                <a:sym typeface="Roboto"/>
              </a:rPr>
              <a:t>What kind of thing is a mind?</a:t>
            </a:r>
            <a:endParaRPr sz="1800">
              <a:solidFill>
                <a:schemeClr val="dk1"/>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0"/>
          <p:cNvSpPr txBox="1"/>
          <p:nvPr/>
        </p:nvSpPr>
        <p:spPr>
          <a:xfrm>
            <a:off x="4917075" y="1877250"/>
            <a:ext cx="3329700" cy="1389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It's </a:t>
            </a:r>
            <a:r>
              <a:rPr b="1" lang="en" sz="1800">
                <a:solidFill>
                  <a:schemeClr val="dk1"/>
                </a:solidFill>
              </a:rPr>
              <a:t>not </a:t>
            </a:r>
            <a:r>
              <a:rPr lang="en" sz="1800">
                <a:solidFill>
                  <a:schemeClr val="dk1"/>
                </a:solidFill>
              </a:rPr>
              <a:t>what it is made of.</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It's </a:t>
            </a:r>
            <a:r>
              <a:rPr b="1" lang="en" sz="1800">
                <a:solidFill>
                  <a:schemeClr val="dk1"/>
                </a:solidFill>
              </a:rPr>
              <a:t>what it does</a:t>
            </a:r>
            <a:r>
              <a:rPr lang="en" sz="1800">
                <a:solidFill>
                  <a:schemeClr val="dk1"/>
                </a:solidFill>
              </a:rPr>
              <a:t>, and how it relates to the world.</a:t>
            </a:r>
            <a:endParaRPr sz="1800">
              <a:solidFill>
                <a:schemeClr val="dk1"/>
              </a:solidFill>
            </a:endParaRPr>
          </a:p>
        </p:txBody>
      </p:sp>
      <p:sp>
        <p:nvSpPr>
          <p:cNvPr id="182" name="Google Shape;182;p30"/>
          <p:cNvSpPr txBox="1"/>
          <p:nvPr/>
        </p:nvSpPr>
        <p:spPr>
          <a:xfrm>
            <a:off x="929813" y="2239650"/>
            <a:ext cx="4257300" cy="664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a:ea typeface="Roboto"/>
                <a:cs typeface="Roboto"/>
                <a:sym typeface="Roboto"/>
              </a:rPr>
              <a:t>What kind of thing is a mind?</a:t>
            </a:r>
            <a:endParaRPr sz="1800">
              <a:solidFill>
                <a:schemeClr val="dk1"/>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1"/>
          <p:cNvSpPr txBox="1"/>
          <p:nvPr/>
        </p:nvSpPr>
        <p:spPr>
          <a:xfrm>
            <a:off x="4917075" y="1877250"/>
            <a:ext cx="3329700" cy="1389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It's </a:t>
            </a:r>
            <a:r>
              <a:rPr b="1" lang="en" sz="1800">
                <a:solidFill>
                  <a:schemeClr val="dk1"/>
                </a:solidFill>
              </a:rPr>
              <a:t>not </a:t>
            </a:r>
            <a:r>
              <a:rPr lang="en" sz="1800">
                <a:solidFill>
                  <a:schemeClr val="dk1"/>
                </a:solidFill>
              </a:rPr>
              <a:t>what it is made of.</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It's </a:t>
            </a:r>
            <a:r>
              <a:rPr b="1" lang="en" sz="1800">
                <a:solidFill>
                  <a:schemeClr val="dk1"/>
                </a:solidFill>
              </a:rPr>
              <a:t>what it does</a:t>
            </a:r>
            <a:r>
              <a:rPr lang="en" sz="1800">
                <a:solidFill>
                  <a:schemeClr val="dk1"/>
                </a:solidFill>
              </a:rPr>
              <a:t>, and how it relates to the world.</a:t>
            </a:r>
            <a:endParaRPr sz="1800">
              <a:solidFill>
                <a:schemeClr val="dk1"/>
              </a:solidFill>
            </a:endParaRPr>
          </a:p>
        </p:txBody>
      </p:sp>
      <p:sp>
        <p:nvSpPr>
          <p:cNvPr id="188" name="Google Shape;188;p31"/>
          <p:cNvSpPr txBox="1"/>
          <p:nvPr/>
        </p:nvSpPr>
        <p:spPr>
          <a:xfrm rot="-274487">
            <a:off x="2588026" y="3831143"/>
            <a:ext cx="3174514" cy="81079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How do we describe these functions and relationships?</a:t>
            </a:r>
            <a:endParaRPr sz="1800">
              <a:solidFill>
                <a:schemeClr val="dk1"/>
              </a:solidFill>
              <a:latin typeface="Roboto"/>
              <a:ea typeface="Roboto"/>
              <a:cs typeface="Roboto"/>
              <a:sym typeface="Roboto"/>
            </a:endParaRPr>
          </a:p>
        </p:txBody>
      </p:sp>
      <p:sp>
        <p:nvSpPr>
          <p:cNvPr id="189" name="Google Shape;189;p31"/>
          <p:cNvSpPr txBox="1"/>
          <p:nvPr/>
        </p:nvSpPr>
        <p:spPr>
          <a:xfrm>
            <a:off x="929813" y="2239650"/>
            <a:ext cx="4257300" cy="664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a:ea typeface="Roboto"/>
                <a:cs typeface="Roboto"/>
                <a:sym typeface="Roboto"/>
              </a:rPr>
              <a:t>What kind of thing is a mind?</a:t>
            </a:r>
            <a:endParaRPr sz="1800">
              <a:solidFill>
                <a:schemeClr val="dk1"/>
              </a:solidFill>
              <a:latin typeface="Roboto"/>
              <a:ea typeface="Roboto"/>
              <a:cs typeface="Roboto"/>
              <a:sym typeface="Roboto"/>
            </a:endParaRPr>
          </a:p>
        </p:txBody>
      </p:sp>
      <p:sp>
        <p:nvSpPr>
          <p:cNvPr id="190" name="Google Shape;190;p31"/>
          <p:cNvSpPr/>
          <p:nvPr/>
        </p:nvSpPr>
        <p:spPr>
          <a:xfrm>
            <a:off x="5650300" y="3226275"/>
            <a:ext cx="621100" cy="862650"/>
          </a:xfrm>
          <a:custGeom>
            <a:rect b="b" l="l" r="r" t="t"/>
            <a:pathLst>
              <a:path extrusionOk="0" h="34506" w="24844">
                <a:moveTo>
                  <a:pt x="0" y="34506"/>
                </a:moveTo>
                <a:cubicBezTo>
                  <a:pt x="8093" y="32989"/>
                  <a:pt x="16797" y="30161"/>
                  <a:pt x="22429" y="24154"/>
                </a:cubicBezTo>
                <a:cubicBezTo>
                  <a:pt x="24879" y="21541"/>
                  <a:pt x="23189" y="17029"/>
                  <a:pt x="23464" y="13457"/>
                </a:cubicBezTo>
                <a:cubicBezTo>
                  <a:pt x="23810" y="8961"/>
                  <a:pt x="24844" y="4509"/>
                  <a:pt x="24844" y="0"/>
                </a:cubicBezTo>
              </a:path>
            </a:pathLst>
          </a:custGeom>
          <a:noFill/>
          <a:ln cap="flat" cmpd="sng" w="19050">
            <a:solidFill>
              <a:schemeClr val="dk1"/>
            </a:solidFill>
            <a:prstDash val="solid"/>
            <a:round/>
            <a:headEnd len="med" w="med" type="none"/>
            <a:tailEnd len="med" w="med" type="stealth"/>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2"/>
          <p:cNvSpPr txBox="1"/>
          <p:nvPr/>
        </p:nvSpPr>
        <p:spPr>
          <a:xfrm>
            <a:off x="1005000" y="1903200"/>
            <a:ext cx="7134000" cy="133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We can use the language of </a:t>
            </a:r>
            <a:r>
              <a:rPr b="1" lang="en" sz="1800">
                <a:solidFill>
                  <a:schemeClr val="dk1"/>
                </a:solidFill>
                <a:latin typeface="Roboto"/>
                <a:ea typeface="Roboto"/>
                <a:cs typeface="Roboto"/>
                <a:sym typeface="Roboto"/>
              </a:rPr>
              <a:t>computation</a:t>
            </a:r>
            <a:r>
              <a:rPr lang="en" sz="1800">
                <a:solidFill>
                  <a:schemeClr val="dk1"/>
                </a:solidFill>
                <a:latin typeface="Roboto"/>
                <a:ea typeface="Roboto"/>
                <a:cs typeface="Roboto"/>
                <a:sym typeface="Roboto"/>
              </a:rPr>
              <a:t>.</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Theory of computation gives us a rich set of formal tools to </a:t>
            </a:r>
            <a:r>
              <a:rPr lang="en" sz="1800">
                <a:solidFill>
                  <a:schemeClr val="dk1"/>
                </a:solidFill>
                <a:latin typeface="Roboto"/>
                <a:ea typeface="Roboto"/>
                <a:cs typeface="Roboto"/>
                <a:sym typeface="Roboto"/>
              </a:rPr>
              <a:t>think about processes (</a:t>
            </a:r>
            <a:r>
              <a:rPr i="1" lang="en" sz="1800">
                <a:solidFill>
                  <a:schemeClr val="dk1"/>
                </a:solidFill>
                <a:latin typeface="Roboto"/>
                <a:ea typeface="Roboto"/>
                <a:cs typeface="Roboto"/>
                <a:sym typeface="Roboto"/>
              </a:rPr>
              <a:t>aka </a:t>
            </a:r>
            <a:r>
              <a:rPr lang="en" sz="1800">
                <a:solidFill>
                  <a:schemeClr val="dk1"/>
                </a:solidFill>
                <a:latin typeface="Roboto"/>
                <a:ea typeface="Roboto"/>
                <a:cs typeface="Roboto"/>
                <a:sym typeface="Roboto"/>
              </a:rPr>
              <a:t>algorithms!) and how they work.</a:t>
            </a:r>
            <a:endParaRPr b="1" sz="1800">
              <a:solidFill>
                <a:schemeClr val="dk1"/>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33"/>
          <p:cNvPicPr preferRelativeResize="0"/>
          <p:nvPr/>
        </p:nvPicPr>
        <p:blipFill>
          <a:blip r:embed="rId3">
            <a:alphaModFix/>
          </a:blip>
          <a:stretch>
            <a:fillRect/>
          </a:stretch>
        </p:blipFill>
        <p:spPr>
          <a:xfrm>
            <a:off x="387800" y="1223250"/>
            <a:ext cx="4042726" cy="2697000"/>
          </a:xfrm>
          <a:prstGeom prst="rect">
            <a:avLst/>
          </a:prstGeom>
          <a:noFill/>
          <a:ln>
            <a:noFill/>
          </a:ln>
        </p:spPr>
      </p:pic>
      <p:sp>
        <p:nvSpPr>
          <p:cNvPr id="201" name="Google Shape;201;p33"/>
          <p:cNvSpPr/>
          <p:nvPr/>
        </p:nvSpPr>
        <p:spPr>
          <a:xfrm>
            <a:off x="4990725" y="674425"/>
            <a:ext cx="3709200" cy="10956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Mono"/>
                <a:ea typeface="Roboto Mono"/>
                <a:cs typeface="Roboto Mono"/>
                <a:sym typeface="Roboto Mono"/>
              </a:rPr>
              <a:t>w</a:t>
            </a:r>
            <a:r>
              <a:rPr lang="en" sz="1800">
                <a:solidFill>
                  <a:schemeClr val="dk1"/>
                </a:solidFill>
                <a:latin typeface="Roboto Mono"/>
                <a:ea typeface="Roboto Mono"/>
                <a:cs typeface="Roboto Mono"/>
                <a:sym typeface="Roboto Mono"/>
              </a:rPr>
              <a:t>hat computational problem is being solved?</a:t>
            </a:r>
            <a:endParaRPr sz="1800">
              <a:solidFill>
                <a:schemeClr val="dk1"/>
              </a:solidFill>
              <a:latin typeface="Roboto Mono"/>
              <a:ea typeface="Roboto Mono"/>
              <a:cs typeface="Roboto Mono"/>
              <a:sym typeface="Roboto Mono"/>
            </a:endParaRPr>
          </a:p>
        </p:txBody>
      </p:sp>
      <p:sp>
        <p:nvSpPr>
          <p:cNvPr id="202" name="Google Shape;202;p33"/>
          <p:cNvSpPr/>
          <p:nvPr/>
        </p:nvSpPr>
        <p:spPr>
          <a:xfrm>
            <a:off x="4990725" y="2099975"/>
            <a:ext cx="3709200" cy="10956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what computational processes are used?</a:t>
            </a:r>
            <a:endParaRPr b="1" sz="2000">
              <a:solidFill>
                <a:schemeClr val="dk1"/>
              </a:solidFill>
              <a:latin typeface="Roboto Mono"/>
              <a:ea typeface="Roboto Mono"/>
              <a:cs typeface="Roboto Mono"/>
              <a:sym typeface="Roboto Mono"/>
            </a:endParaRPr>
          </a:p>
        </p:txBody>
      </p:sp>
      <p:sp>
        <p:nvSpPr>
          <p:cNvPr id="203" name="Google Shape;203;p33"/>
          <p:cNvSpPr/>
          <p:nvPr/>
        </p:nvSpPr>
        <p:spPr>
          <a:xfrm>
            <a:off x="4990725" y="3525525"/>
            <a:ext cx="3709200" cy="10956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Mono"/>
                <a:ea typeface="Roboto Mono"/>
                <a:cs typeface="Roboto Mono"/>
                <a:sym typeface="Roboto Mono"/>
              </a:rPr>
              <a:t>h</a:t>
            </a:r>
            <a:r>
              <a:rPr lang="en" sz="1800">
                <a:solidFill>
                  <a:schemeClr val="dk1"/>
                </a:solidFill>
                <a:latin typeface="Roboto Mono"/>
                <a:ea typeface="Roboto Mono"/>
                <a:cs typeface="Roboto Mono"/>
                <a:sym typeface="Roboto Mono"/>
              </a:rPr>
              <a:t>ow is the process implemented?</a:t>
            </a:r>
            <a:endParaRPr sz="1800">
              <a:solidFill>
                <a:schemeClr val="dk1"/>
              </a:solidFill>
              <a:latin typeface="Roboto Mono"/>
              <a:ea typeface="Roboto Mono"/>
              <a:cs typeface="Roboto Mono"/>
              <a:sym typeface="Roboto Mon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4"/>
          <p:cNvSpPr txBox="1"/>
          <p:nvPr/>
        </p:nvSpPr>
        <p:spPr>
          <a:xfrm>
            <a:off x="1005000" y="1834175"/>
            <a:ext cx="7134000" cy="133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Roboto"/>
                <a:ea typeface="Roboto"/>
                <a:cs typeface="Roboto"/>
                <a:sym typeface="Roboto"/>
              </a:rPr>
              <a:t>This semester</a:t>
            </a:r>
            <a:endParaRPr b="1"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Neural networks from 1943 → 2025. </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How has the development of neural network models over the past 80 years influenced how we think about the mind? </a:t>
            </a:r>
            <a:endParaRPr sz="1800">
              <a:solidFill>
                <a:schemeClr val="dk1"/>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5"/>
          <p:cNvSpPr txBox="1"/>
          <p:nvPr/>
        </p:nvSpPr>
        <p:spPr>
          <a:xfrm>
            <a:off x="1005000" y="1834175"/>
            <a:ext cx="7134000" cy="133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Roboto"/>
                <a:ea typeface="Roboto"/>
                <a:cs typeface="Roboto"/>
                <a:sym typeface="Roboto"/>
              </a:rPr>
              <a:t>Course structure</a:t>
            </a:r>
            <a:endParaRPr b="1" sz="1800">
              <a:solidFill>
                <a:schemeClr val="dk1"/>
              </a:solidFill>
              <a:latin typeface="Roboto"/>
              <a:ea typeface="Roboto"/>
              <a:cs typeface="Roboto"/>
              <a:sym typeface="Roboto"/>
            </a:endParaRPr>
          </a:p>
          <a:p>
            <a:pPr indent="0" lvl="0" marL="0" rtl="0" algn="l">
              <a:spcBef>
                <a:spcPts val="0"/>
              </a:spcBef>
              <a:spcAft>
                <a:spcPts val="0"/>
              </a:spcAft>
              <a:buNone/>
            </a:pPr>
            <a:r>
              <a:t/>
            </a:r>
            <a:endParaRPr b="1"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Tuesdays we will typically look at a new technique or model type.</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Thursdays we will typically discuss a paper that uses that technique.</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Fridays we will have a lab for hands-on work, typically building the model from Thursday's paper.</a:t>
            </a:r>
            <a:endParaRPr sz="1800">
              <a:solidFill>
                <a:schemeClr val="dk1"/>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6"/>
          <p:cNvSpPr txBox="1"/>
          <p:nvPr/>
        </p:nvSpPr>
        <p:spPr>
          <a:xfrm>
            <a:off x="1005000" y="1834175"/>
            <a:ext cx="7134000" cy="133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Roboto"/>
                <a:ea typeface="Roboto"/>
                <a:cs typeface="Roboto"/>
                <a:sym typeface="Roboto"/>
              </a:rPr>
              <a:t>Assignments</a:t>
            </a:r>
            <a:endParaRPr b="1"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Weekly labs are 55% of grade. These are skill building activities, not evaluations of your ability to code.</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Course project is 30% of your grade. </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Participation is 15% of your grade.</a:t>
            </a:r>
            <a:endParaRPr sz="1800">
              <a:solidFill>
                <a:schemeClr val="dk1"/>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7"/>
          <p:cNvSpPr txBox="1"/>
          <p:nvPr/>
        </p:nvSpPr>
        <p:spPr>
          <a:xfrm>
            <a:off x="1005000" y="1834175"/>
            <a:ext cx="7134000" cy="133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Fill out pre-course survey on Moodle.</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Sign up for a free Google Colab Pro account. Link on Moodle.</a:t>
            </a:r>
            <a:endParaRPr sz="1800">
              <a:solidFill>
                <a:schemeClr val="dk1"/>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